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  <p:sldId id="340" r:id="rId12"/>
    <p:sldId id="341" r:id="rId13"/>
    <p:sldId id="342" r:id="rId14"/>
    <p:sldId id="343" r:id="rId15"/>
    <p:sldId id="344" r:id="rId16"/>
    <p:sldId id="34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5033" autoAdjust="0"/>
  </p:normalViewPr>
  <p:slideViewPr>
    <p:cSldViewPr snapToGrid="0">
      <p:cViewPr varScale="1">
        <p:scale>
          <a:sx n="103" d="100"/>
          <a:sy n="103" d="100"/>
        </p:scale>
        <p:origin x="92" y="3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d7roshan07/Doctor-Visits-Analysis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09161" y="4141999"/>
            <a:ext cx="5003800" cy="1937525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Roshan Kumar</a:t>
            </a:r>
          </a:p>
          <a:p>
            <a:pPr algn="r"/>
            <a:r>
              <a:rPr lang="en-IN" dirty="0">
                <a:solidFill>
                  <a:schemeClr val="tx1"/>
                </a:solidFill>
              </a:rPr>
              <a:t>STU66ab93f22047e1722520562</a:t>
            </a:r>
          </a:p>
          <a:p>
            <a:pPr algn="r"/>
            <a:r>
              <a:rPr lang="en-IN" dirty="0" err="1">
                <a:solidFill>
                  <a:schemeClr val="tx1"/>
                </a:solidFill>
              </a:rPr>
              <a:t>Rajkiya</a:t>
            </a:r>
            <a:r>
              <a:rPr lang="en-IN" dirty="0">
                <a:solidFill>
                  <a:schemeClr val="tx1"/>
                </a:solidFill>
              </a:rPr>
              <a:t> Engineering College </a:t>
            </a:r>
            <a:r>
              <a:rPr lang="en-IN" dirty="0" err="1">
                <a:solidFill>
                  <a:schemeClr val="tx1"/>
                </a:solidFill>
              </a:rPr>
              <a:t>Sonbhadra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2757" y="2702886"/>
            <a:ext cx="7128829" cy="662168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rgbClr val="1C4160"/>
                </a:solidFill>
              </a:rPr>
              <a:t>Project </a:t>
            </a:r>
            <a:r>
              <a:rPr lang="en-IN" sz="3200" b="1" dirty="0" err="1">
                <a:solidFill>
                  <a:srgbClr val="1C4160"/>
                </a:solidFill>
              </a:rPr>
              <a:t>Name:Doctor</a:t>
            </a:r>
            <a:r>
              <a:rPr lang="en-IN" sz="3200" b="1" dirty="0">
                <a:solidFill>
                  <a:srgbClr val="1C4160"/>
                </a:solidFill>
              </a:rPr>
              <a:t> Visits Analysis</a:t>
            </a:r>
            <a:br>
              <a:rPr lang="en-IN" sz="3200" b="1" dirty="0">
                <a:solidFill>
                  <a:srgbClr val="1C4160"/>
                </a:solidFill>
              </a:rPr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Understand and model doctor-visit utilization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1371600"/>
            <a:ext cx="3200400" cy="109728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1371600"/>
            <a:ext cx="54864" cy="1097280"/>
          </a:xfrm>
          <a:prstGeom prst="rect">
            <a:avLst/>
          </a:prstGeom>
          <a:solidFill>
            <a:srgbClr val="36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" y="1463040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1700784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5,190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2121408"/>
            <a:ext cx="297180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Patient observations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1371600"/>
            <a:ext cx="3200400" cy="109728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1371600"/>
            <a:ext cx="54864" cy="1097280"/>
          </a:xfrm>
          <a:prstGeom prst="rect">
            <a:avLst/>
          </a:prstGeom>
          <a:solidFill>
            <a:srgbClr val="3AA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98264" y="1463040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1700784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0–9 visits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121408"/>
            <a:ext cx="297180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Count variable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1371600"/>
            <a:ext cx="3200400" cy="109728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1371600"/>
            <a:ext cx="54864" cy="1097280"/>
          </a:xfrm>
          <a:prstGeom prst="rect">
            <a:avLst/>
          </a:prstGeom>
          <a:solidFill>
            <a:srgbClr val="715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64424" y="1463040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ZERO VISITS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4424" y="1700784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79.8%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4424" y="2121408"/>
            <a:ext cx="297180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4,141 records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2788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4160"/>
                </a:solidFill>
              </a:rPr>
              <a:t>Key questions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1546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Which characteristics are associated with higher visit frequency?</a:t>
            </a:r>
          </a:p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How do illness, chronic conditions, age, gender, income and insurance relate to utilization?</a:t>
            </a:r>
          </a:p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Which statistical and machine-learning methods fit the target?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035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43B"/>
                </a:solidFill>
              </a:rPr>
              <a:t>The target is dominated by zeros, so count-based and binary classification models are used.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Data &amp;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Main transformations used in the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325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4160"/>
                </a:solidFill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459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5,190 records and 12 original variables.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No missing values reported.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Age converted to age_years.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Yes/no variables encoded as 0/1.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3258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4160"/>
                </a:solidFill>
              </a:rPr>
              <a:t>Derived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6459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Age groups: 19–29 to 60–72.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Income tiers: Low, Mid, High.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visited = 1 when visits &gt; 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94760"/>
            <a:ext cx="3200400" cy="114300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54864" cy="114300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" y="3886200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DUPLICATE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123944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3,152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544568"/>
            <a:ext cx="297180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Reported by the supplied 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8862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A4F4F"/>
                </a:solidFill>
              </a:rPr>
              <a:t>Review before final modelling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29768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27B"/>
                </a:solidFill>
              </a:rPr>
              <a:t>The script reports duplicates but does not remove them before modelling.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19088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27B"/>
                </a:solidFill>
              </a:rPr>
              <a:t>P2 • Healthcare Analytics for Doctor Visits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endParaRPr lang="en-IN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EDA — Target &amp; Demographics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What the first three plots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04</a:t>
            </a:r>
          </a:p>
        </p:txBody>
      </p:sp>
      <p:pic>
        <p:nvPicPr>
          <p:cNvPr id="20" name="Picture 19" descr="plot1_visit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303520" cy="3246120"/>
          </a:xfrm>
          <a:prstGeom prst="rect">
            <a:avLst/>
          </a:prstGeom>
        </p:spPr>
      </p:pic>
      <p:pic>
        <p:nvPicPr>
          <p:cNvPr id="21" name="Picture 20" descr="plot2_gender_vis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234440"/>
            <a:ext cx="5394960" cy="2057400"/>
          </a:xfrm>
          <a:prstGeom prst="rect">
            <a:avLst/>
          </a:prstGeom>
        </p:spPr>
      </p:pic>
      <p:pic>
        <p:nvPicPr>
          <p:cNvPr id="22" name="Picture 21" descr="plot3_age_vis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456432"/>
            <a:ext cx="5394960" cy="2240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48006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4160"/>
                </a:solidFill>
              </a:rPr>
              <a:t>79.8% of patients have zero visits.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19379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Average visits: 0.217 (19–29) → 0.432 (60–72).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EDA — Main Utilization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Income, illness and chronic-condition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05</a:t>
            </a:r>
          </a:p>
        </p:txBody>
      </p:sp>
      <p:pic>
        <p:nvPicPr>
          <p:cNvPr id="20" name="Picture 19" descr="plot4_income_visi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188720"/>
            <a:ext cx="3703320" cy="3108960"/>
          </a:xfrm>
          <a:prstGeom prst="rect">
            <a:avLst/>
          </a:prstGeom>
        </p:spPr>
      </p:pic>
      <p:pic>
        <p:nvPicPr>
          <p:cNvPr id="21" name="Picture 20" descr="plot5_illness_vis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1188720"/>
            <a:ext cx="3703320" cy="3108960"/>
          </a:xfrm>
          <a:prstGeom prst="rect">
            <a:avLst/>
          </a:prstGeom>
        </p:spPr>
      </p:pic>
      <p:pic>
        <p:nvPicPr>
          <p:cNvPr id="22" name="Picture 21" descr="plot6_chronic_visi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1188720"/>
            <a:ext cx="3703320" cy="31089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02920" y="4572000"/>
            <a:ext cx="3246120" cy="100584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4572000"/>
            <a:ext cx="54864" cy="1005840"/>
          </a:xfrm>
          <a:prstGeom prst="rect">
            <a:avLst/>
          </a:prstGeom>
          <a:solidFill>
            <a:srgbClr val="715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466344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INCOME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901184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0.398 → 0.224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5321808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Low → High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4572000"/>
            <a:ext cx="3246120" cy="100584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4572000"/>
            <a:ext cx="54864" cy="100584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06824" y="466344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ILLNESS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4901184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0.079 → 0.814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6824" y="5321808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0 → 5 illnesses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4572000"/>
            <a:ext cx="3246120" cy="100584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18120" y="4572000"/>
            <a:ext cx="54864" cy="1005840"/>
          </a:xfrm>
          <a:prstGeom prst="rect">
            <a:avLst/>
          </a:prstGeom>
          <a:solidFill>
            <a:srgbClr val="3AA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64424" y="466344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LIMITED CHRONIC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4424" y="4901184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0.603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64424" y="5321808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Average visits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EDA — Severity &amp; Insurance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Additional utilization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06</a:t>
            </a:r>
          </a:p>
        </p:txBody>
      </p:sp>
      <p:pic>
        <p:nvPicPr>
          <p:cNvPr id="34" name="Picture 33" descr="plot7_severity_indica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577840" cy="3657600"/>
          </a:xfrm>
          <a:prstGeom prst="rect">
            <a:avLst/>
          </a:prstGeom>
        </p:spPr>
      </p:pic>
      <p:pic>
        <p:nvPicPr>
          <p:cNvPr id="35" name="Picture 34" descr="plot8_insurance_vis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188720"/>
            <a:ext cx="5577840" cy="3657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4360" y="50292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4160"/>
                </a:solidFill>
              </a:rPr>
              <a:t>Severity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010912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Reduced activity and health score rise with illness count.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0292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4160"/>
                </a:solidFill>
              </a:rPr>
              <a:t>Insurance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01091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Average visits vary across the four insurance categories shown.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Correlation &amp; Statistical Testing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Quantifying selected relationships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07</a:t>
            </a:r>
          </a:p>
        </p:txBody>
      </p:sp>
      <p:pic>
        <p:nvPicPr>
          <p:cNvPr id="49" name="Picture 48" descr="plot9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577840" cy="45262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63640" y="13258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4160"/>
                </a:solidFill>
              </a:rPr>
              <a:t>Correlation with visits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1691640"/>
            <a:ext cx="3794760" cy="53035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263640" y="1691640"/>
            <a:ext cx="54864" cy="530352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9944" y="1783080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Reduced activity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9944" y="2020824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0.42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2377440"/>
            <a:ext cx="3794760" cy="53035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63640" y="2377440"/>
            <a:ext cx="54864" cy="530352"/>
          </a:xfrm>
          <a:prstGeom prst="rect">
            <a:avLst/>
          </a:prstGeom>
          <a:solidFill>
            <a:srgbClr val="EB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9944" y="2468880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Illness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9944" y="2706624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0.22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3063240"/>
            <a:ext cx="3794760" cy="53035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63640" y="3063240"/>
            <a:ext cx="54864" cy="530352"/>
          </a:xfrm>
          <a:prstGeom prst="rect">
            <a:avLst/>
          </a:prstGeom>
          <a:solidFill>
            <a:srgbClr val="3AA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9944" y="3154680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Health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9944" y="3392424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0.19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63640" y="3749039"/>
            <a:ext cx="3794760" cy="53035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263640" y="3749039"/>
            <a:ext cx="54864" cy="530352"/>
          </a:xfrm>
          <a:prstGeom prst="rect">
            <a:avLst/>
          </a:prstGeom>
          <a:solidFill>
            <a:srgbClr val="36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9944" y="3840479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9944" y="4078224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0.12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4434840"/>
            <a:ext cx="3794760" cy="53035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263640" y="4434840"/>
            <a:ext cx="54864" cy="530352"/>
          </a:xfrm>
          <a:prstGeom prst="rect">
            <a:avLst/>
          </a:prstGeom>
          <a:solidFill>
            <a:srgbClr val="715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9944" y="4526279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Income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9944" y="4764024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−0.08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4406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27B"/>
                </a:solidFill>
              </a:rPr>
              <a:t>Formal tests: Gender p &lt; 0.001 • Illness groups p &lt; 0.001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Count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Poisson vs Negative Binomial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08</a:t>
            </a:r>
          </a:p>
        </p:txBody>
      </p:sp>
      <p:pic>
        <p:nvPicPr>
          <p:cNvPr id="5" name="Picture 4" descr="plot1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669280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95160" y="1554480"/>
            <a:ext cx="3886200" cy="118872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1554480"/>
            <a:ext cx="54864" cy="1188720"/>
          </a:xfrm>
          <a:prstGeom prst="rect">
            <a:avLst/>
          </a:prstGeom>
          <a:solidFill>
            <a:srgbClr val="36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41464" y="164592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POISSON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1464" y="1883664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AIC 6,735.7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1464" y="2304288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017520"/>
            <a:ext cx="3886200" cy="118872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95160" y="3017520"/>
            <a:ext cx="54864" cy="1188720"/>
          </a:xfrm>
          <a:prstGeom prst="rect">
            <a:avLst/>
          </a:prstGeom>
          <a:solidFill>
            <a:srgbClr val="715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41464" y="310896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NEGATIVE BINOMIAL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464" y="3346703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AIC 6,423.7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464" y="3767328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Lower AIC in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663440"/>
            <a:ext cx="3886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27B"/>
                </a:solidFill>
              </a:rPr>
              <a:t>The outcome is a count with a large mass at zero. The script also attempts a Zero-Inflated Poisson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Visited vs Not Visited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09</a:t>
            </a:r>
          </a:p>
        </p:txBody>
      </p:sp>
      <p:pic>
        <p:nvPicPr>
          <p:cNvPr id="5" name="Picture 4" descr="plot12_m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903720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554480"/>
            <a:ext cx="3337560" cy="64008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554480"/>
            <a:ext cx="54864" cy="640080"/>
          </a:xfrm>
          <a:prstGeom prst="rect">
            <a:avLst/>
          </a:prstGeom>
          <a:solidFill>
            <a:srgbClr val="36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81544" y="164592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LOGISTIC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1544" y="188366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0.727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2304288"/>
            <a:ext cx="310896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Test 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377440"/>
            <a:ext cx="3337560" cy="64008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377440"/>
            <a:ext cx="54864" cy="640080"/>
          </a:xfrm>
          <a:prstGeom prst="rect">
            <a:avLst/>
          </a:prstGeom>
          <a:solidFill>
            <a:srgbClr val="715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2468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70662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0.700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1544" y="3127248"/>
            <a:ext cx="310896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Test AUC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200400"/>
            <a:ext cx="3337560" cy="64008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3200400"/>
            <a:ext cx="54864" cy="640080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81544" y="329184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352958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0.729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3950208"/>
            <a:ext cx="310896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27B"/>
                </a:solidFill>
              </a:rPr>
              <a:t>Test 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4160"/>
                </a:solidFill>
              </a:rPr>
              <a:t>Confusion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526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43B"/>
                </a:solidFill>
              </a:rPr>
              <a:t>TN 978  •  FP 58  •  FN 199  •  TP 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0292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Visited recall ≈ 24.0%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10</a:t>
            </a:r>
          </a:p>
        </p:txBody>
      </p:sp>
      <p:pic>
        <p:nvPicPr>
          <p:cNvPr id="5" name="Picture 4" descr="plot1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04088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371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4160"/>
                </a:solidFill>
              </a:rPr>
              <a:t>Top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55648"/>
            <a:ext cx="3200400" cy="57607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755648"/>
            <a:ext cx="54864" cy="576072"/>
          </a:xfrm>
          <a:prstGeom prst="rect">
            <a:avLst/>
          </a:prstGeom>
          <a:solidFill>
            <a:srgbClr val="36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847088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2084831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487168"/>
            <a:ext cx="3200400" cy="57607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2487168"/>
            <a:ext cx="54864" cy="576072"/>
          </a:xfrm>
          <a:prstGeom prst="rect">
            <a:avLst/>
          </a:prstGeom>
          <a:solidFill>
            <a:srgbClr val="715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4424" y="2578608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4424" y="2816351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0.173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218688"/>
            <a:ext cx="3200400" cy="57607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3218688"/>
            <a:ext cx="54864" cy="576072"/>
          </a:xfrm>
          <a:prstGeom prst="rect">
            <a:avLst/>
          </a:prstGeom>
          <a:solidFill>
            <a:srgbClr val="DA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4" y="3310128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Reduced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35478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0.164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950208"/>
            <a:ext cx="3200400" cy="57607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18120" y="3950208"/>
            <a:ext cx="54864" cy="576072"/>
          </a:xfrm>
          <a:prstGeom prst="rect">
            <a:avLst/>
          </a:prstGeom>
          <a:solidFill>
            <a:srgbClr val="3AA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64424" y="4041648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4424" y="427939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0.160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681728"/>
            <a:ext cx="3200400" cy="576072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18120" y="4681728"/>
            <a:ext cx="54864" cy="576072"/>
          </a:xfrm>
          <a:prstGeom prst="rect">
            <a:avLst/>
          </a:prstGeom>
          <a:solidFill>
            <a:srgbClr val="EB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64424" y="4773168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27B"/>
                </a:solidFill>
              </a:rPr>
              <a:t>Illness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4" y="501091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4160"/>
                </a:solidFill>
              </a:rPr>
              <a:t>0.140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56235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27B"/>
                </a:solidFill>
              </a:rPr>
              <a:t>Importance is model-specific and is not a causal effect.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Short summary for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79.8% of records have zero visits.</a:t>
            </a:r>
          </a:p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Average visits increase with age and illness count.</a:t>
            </a:r>
          </a:p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Illness count shows the clearest dose-response pattern.</a:t>
            </a:r>
          </a:p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Limited chronic-condition status is associated with higher utilization.</a:t>
            </a:r>
          </a:p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Income has a small negative association with visits.</a:t>
            </a:r>
          </a:p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Negative Binomial has lower AIC than Poisson in the displayed comparison.</a:t>
            </a:r>
          </a:p>
          <a:p>
            <a:pPr>
              <a:spcAft>
                <a:spcPts val="700"/>
              </a:spcAft>
              <a:defRPr sz="1400">
                <a:solidFill>
                  <a:srgbClr val="2D343B"/>
                </a:solidFill>
              </a:defRPr>
            </a:pPr>
            <a:r>
              <a:t>• Classification AUC values are around 0.70–0.73.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D343B"/>
                </a:solidFill>
              </a:rPr>
              <a:t>Overall: the analysis reveals clear utilization patterns, while predictive performance is moderate.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4160"/>
                </a:solidFill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27B"/>
                </a:solidFill>
              </a:rPr>
              <a:t>What to improve before operational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4160"/>
                </a:solidFill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Review 3,152 reported duplicate rows.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Observational associations are not causal effects.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The visited class is imbalanced.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Models need validation on separate representative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71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4160"/>
                </a:solidFill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Compare ZIP/ZINB explicitly.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Use precision, recall, PR-AUC and calibration.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Tune models with repeated cross-validation.</a:t>
            </a:r>
          </a:p>
          <a:p>
            <a:pPr>
              <a:spcAft>
                <a:spcPts val="700"/>
              </a:spcAft>
              <a:defRPr sz="1300">
                <a:solidFill>
                  <a:srgbClr val="2D343B"/>
                </a:solidFill>
              </a:defRPr>
            </a:pPr>
            <a:r>
              <a:t>• Re-run after data-quality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9354" y="3291840"/>
            <a:ext cx="4846320" cy="1051560"/>
          </a:xfrm>
          <a:prstGeom prst="roundRect">
            <a:avLst/>
          </a:prstGeom>
          <a:solidFill>
            <a:srgbClr val="F6F9FB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64386" y="3300984"/>
            <a:ext cx="54864" cy="1051560"/>
          </a:xfrm>
          <a:prstGeom prst="rect">
            <a:avLst/>
          </a:prstGeom>
          <a:solidFill>
            <a:srgbClr val="3AA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1818" y="3337560"/>
            <a:ext cx="4617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69727B"/>
                </a:solidFill>
              </a:rPr>
              <a:t>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3602" y="3611880"/>
            <a:ext cx="4617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4160"/>
                </a:solidFill>
              </a:rPr>
              <a:t>Validate → Tune →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3602" y="3995930"/>
            <a:ext cx="461772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dirty="0">
                <a:solidFill>
                  <a:srgbClr val="69727B"/>
                </a:solidFill>
              </a:rPr>
              <a:t>Then consider operational use</a:t>
            </a:r>
          </a:p>
        </p:txBody>
      </p:sp>
      <p:sp>
        <p:nvSpPr>
          <p:cNvPr id="14" name="Rectangle 13">
            <a:hlinkClick r:id="rId2"/>
            <a:extLst>
              <a:ext uri="{FF2B5EF4-FFF2-40B4-BE49-F238E27FC236}">
                <a16:creationId xmlns:a16="http://schemas.microsoft.com/office/drawing/2014/main" id="{D3A19773-1076-324E-1152-822341394EA6}"/>
              </a:ext>
            </a:extLst>
          </p:cNvPr>
          <p:cNvSpPr/>
          <p:nvPr/>
        </p:nvSpPr>
        <p:spPr>
          <a:xfrm>
            <a:off x="731520" y="5029200"/>
            <a:ext cx="3385751" cy="64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Demo File </a:t>
            </a:r>
            <a:r>
              <a:rPr lang="en-US" dirty="0" err="1"/>
              <a:t>Github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4416" y="1841403"/>
            <a:ext cx="10332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solidFill>
                  <a:srgbClr val="1C4160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27B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87822" y="266937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1C4160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4232" y="3246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D343B"/>
                </a:solidFill>
              </a:rPr>
              <a:t>Prepared by Roshan 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557</TotalTime>
  <Words>623</Words>
  <Application>Microsoft Office PowerPoint</Application>
  <PresentationFormat>Widescreen</PresentationFormat>
  <Paragraphs>151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Project Name:Doctor Visits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ROSHAN KUMAR</cp:lastModifiedBy>
  <cp:revision>75</cp:revision>
  <dcterms:created xsi:type="dcterms:W3CDTF">2021-07-11T13:13:15Z</dcterms:created>
  <dcterms:modified xsi:type="dcterms:W3CDTF">2026-09-21T08:10:45Z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